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4630400" cy="8229600"/>
  <p:notesSz cx="8229600" cy="14630400"/>
  <p:embeddedFontLst>
    <p:embeddedFont>
      <p:font typeface="Anton" pitchFamily="2" charset="0"/>
      <p:regular r:id="rId14"/>
    </p:embeddedFont>
    <p:embeddedFont>
      <p:font typeface="Fira Sans" panose="020B0503050000020004" pitchFamily="3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95AF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96A2F-CB6D-4941-8034-82258A1E5A9B}" v="156" dt="2025-11-12T14:05:35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28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34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0"/>
            <a:ext cx="64008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Прогнозирование потенциального успеха новой игры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5218307" y="4969450"/>
            <a:ext cx="3424248" cy="1641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Работу выполнили: </a:t>
            </a:r>
            <a:endParaRPr lang="ru-RU" sz="175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Кирьянова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Софья, </a:t>
            </a:r>
            <a:endParaRPr lang="ru-RU" sz="175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Колотова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Екатерина, </a:t>
            </a:r>
            <a:endParaRPr lang="ru-RU" sz="175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Томашева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Полина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992" y="423863"/>
            <a:ext cx="5426393" cy="36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Формирование и подготовка датасета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508992" y="1078230"/>
            <a:ext cx="13612416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 рамках нашего проекта мы самостоятельно собрали комплексный датасет, посвященный видеоиграм, используя два основных источника. Первый сайт был обработан с помощью методов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Web-Scraping'a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Parsing'a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а второй — через его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API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8992" y="1597187"/>
            <a:ext cx="13612416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После сбора данные были объединены и тщательно очищены: мы удалили дубликаты, заполнили пропущенные значения, а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также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ru-RU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исключили ненужные нам столбцы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Таким образом, датасет был приведен в готовность для анализа и решения поставленной бизнес-задачи.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8992" y="2060507"/>
            <a:ext cx="2685097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2400" b="1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Столбцы полученного </a:t>
            </a:r>
            <a:r>
              <a:rPr lang="en-US" sz="2400" b="1" dirty="0" err="1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датасета</a:t>
            </a:r>
            <a:r>
              <a:rPr lang="en-US" sz="24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8992" y="2881908"/>
            <a:ext cx="6733461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52" y="2881908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8" name="Text 6"/>
          <p:cNvSpPr/>
          <p:nvPr/>
        </p:nvSpPr>
        <p:spPr>
          <a:xfrm>
            <a:off x="715328" y="3042523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released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5328" y="3356967"/>
            <a:ext cx="636651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Дата релиза игры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87828" y="2881908"/>
            <a:ext cx="6733580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2588" y="2881908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12" name="Text 10"/>
          <p:cNvSpPr/>
          <p:nvPr/>
        </p:nvSpPr>
        <p:spPr>
          <a:xfrm>
            <a:off x="7594163" y="3042523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rating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94163" y="3356967"/>
            <a:ext cx="63666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Средний пользовательский рейтинг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8992" y="3895725"/>
            <a:ext cx="6733461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52" y="3895725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16" name="Text 14"/>
          <p:cNvSpPr/>
          <p:nvPr/>
        </p:nvSpPr>
        <p:spPr>
          <a:xfrm>
            <a:off x="715328" y="4056340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ratings_count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5328" y="4370784"/>
            <a:ext cx="636651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Количество пользователей, оставивших рейтинг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87828" y="3895725"/>
            <a:ext cx="6733580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2588" y="3895725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20" name="Text 18"/>
          <p:cNvSpPr/>
          <p:nvPr/>
        </p:nvSpPr>
        <p:spPr>
          <a:xfrm>
            <a:off x="7594163" y="4056340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metacritic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94163" y="4370784"/>
            <a:ext cx="63666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Средний рейтинг критиков (0–100)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8992" y="4909542"/>
            <a:ext cx="6733461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52" y="4909542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24" name="Text 22"/>
          <p:cNvSpPr/>
          <p:nvPr/>
        </p:nvSpPr>
        <p:spPr>
          <a:xfrm>
            <a:off x="715328" y="5070158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playtime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5328" y="5384602"/>
            <a:ext cx="636651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Среднее время, проведенное в игре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7828" y="4909542"/>
            <a:ext cx="6733580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2588" y="4909542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28" name="Text 26"/>
          <p:cNvSpPr/>
          <p:nvPr/>
        </p:nvSpPr>
        <p:spPr>
          <a:xfrm>
            <a:off x="7594163" y="5070158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genres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94163" y="5384602"/>
            <a:ext cx="63666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Список жанров игры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8992" y="5923359"/>
            <a:ext cx="6733461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52" y="5923359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32" name="Text 30"/>
          <p:cNvSpPr/>
          <p:nvPr/>
        </p:nvSpPr>
        <p:spPr>
          <a:xfrm>
            <a:off x="715328" y="6083975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stores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15328" y="6398419"/>
            <a:ext cx="636651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Платформы и магазины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87828" y="5923359"/>
            <a:ext cx="6733580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72588" y="5923359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36" name="Text 34"/>
          <p:cNvSpPr/>
          <p:nvPr/>
        </p:nvSpPr>
        <p:spPr>
          <a:xfrm>
            <a:off x="7594163" y="6083975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esrb_rating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594163" y="6398419"/>
            <a:ext cx="63666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Возрастной рейтинг ESRB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8992" y="6937177"/>
            <a:ext cx="6733461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52" y="6937177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40" name="Text 38"/>
          <p:cNvSpPr/>
          <p:nvPr/>
        </p:nvSpPr>
        <p:spPr>
          <a:xfrm>
            <a:off x="715328" y="7097792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added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15328" y="7412236"/>
            <a:ext cx="636651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Количество добавлений в коллекции/вишлисты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87828" y="6937177"/>
            <a:ext cx="6733580" cy="868442"/>
          </a:xfrm>
          <a:prstGeom prst="roundRect">
            <a:avLst>
              <a:gd name="adj" fmla="val 8423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72588" y="6937177"/>
            <a:ext cx="60960" cy="868442"/>
          </a:xfrm>
          <a:prstGeom prst="roundRect">
            <a:avLst>
              <a:gd name="adj" fmla="val 35792"/>
            </a:avLst>
          </a:prstGeom>
          <a:solidFill>
            <a:srgbClr val="FA95AE"/>
          </a:solidFill>
          <a:ln/>
        </p:spPr>
      </p:sp>
      <p:sp>
        <p:nvSpPr>
          <p:cNvPr id="44" name="Text 42"/>
          <p:cNvSpPr/>
          <p:nvPr/>
        </p:nvSpPr>
        <p:spPr>
          <a:xfrm>
            <a:off x="7594163" y="7097792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price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594163" y="7412236"/>
            <a:ext cx="636662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Цена игры на платформе</a:t>
            </a:r>
            <a:endParaRPr lang="en-US" sz="1400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12530198" y="7805619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Прямоугольник 51"/>
          <p:cNvSpPr/>
          <p:nvPr/>
        </p:nvSpPr>
        <p:spPr>
          <a:xfrm>
            <a:off x="12479890" y="7791136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32619" y="458153"/>
            <a:ext cx="9953149" cy="43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Динамика популярности игр и пользовательских сигналов</a:t>
            </a:r>
            <a:endParaRPr lang="en-US" sz="27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9" y="1077454"/>
            <a:ext cx="5997677" cy="3347540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48" y="4586944"/>
            <a:ext cx="6021148" cy="33094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00986" y="1185609"/>
            <a:ext cx="72563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Большинство игр остаются малозаметными, в то время как лишь немногие достигают статуса </a:t>
            </a: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«суперпопулярных»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Наблюдается прямая зависимость: чем больше отзывов, тем чаще игру добавляют в списки желаемого, что является ключевым индикатором популярности. Чем выше пользовательская оценка, тем дольше в среднем играют в игру.</a:t>
            </a:r>
            <a:endParaRPr lang="en-US" sz="1400" dirty="0"/>
          </a:p>
          <a:p>
            <a:endParaRPr lang="ru-RU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000986" y="2430407"/>
            <a:ext cx="4552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Ключевые наблюдения:</a:t>
            </a:r>
            <a:endParaRPr lang="en-US" sz="2000" dirty="0"/>
          </a:p>
          <a:p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6930087" y="2879472"/>
            <a:ext cx="7327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Слабая связь между средним рейтингом и количеством отзывов: игры с высокой оценкой могут оставаться незамеченными из-за малого числа отзывов.</a:t>
            </a:r>
            <a:endParaRPr lang="en-US" sz="1400" dirty="0"/>
          </a:p>
          <a:p>
            <a:endParaRPr lang="ru-RU" sz="2000" dirty="0"/>
          </a:p>
        </p:txBody>
      </p:sp>
      <p:sp>
        <p:nvSpPr>
          <p:cNvPr id="30" name="Text 4"/>
          <p:cNvSpPr/>
          <p:nvPr/>
        </p:nvSpPr>
        <p:spPr>
          <a:xfrm>
            <a:off x="5790133" y="3561408"/>
            <a:ext cx="1537397" cy="119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6930087" y="3409032"/>
            <a:ext cx="7315200" cy="73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Феномен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«длинного хвоста»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множество игр с минимальным количеством</a:t>
            </a:r>
            <a:r>
              <a:rPr lang="ru-RU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отзывов и несколько хитов с тысячами</a:t>
            </a:r>
          </a:p>
          <a:p>
            <a:endParaRPr lang="ru-RU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6930087" y="3940616"/>
            <a:ext cx="7327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Выбросы около нулевого рейтинга указывают на возможные ошибки данных.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7000986" y="4383676"/>
            <a:ext cx="203981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Рекомендации:</a:t>
            </a:r>
            <a:endParaRPr lang="en-US" sz="2000" dirty="0"/>
          </a:p>
          <a:p>
            <a:endParaRPr lang="ru-RU" dirty="0"/>
          </a:p>
        </p:txBody>
      </p:sp>
      <p:sp>
        <p:nvSpPr>
          <p:cNvPr id="39" name="Стрелка вправо 38"/>
          <p:cNvSpPr/>
          <p:nvPr/>
        </p:nvSpPr>
        <p:spPr>
          <a:xfrm>
            <a:off x="6895262" y="4960913"/>
            <a:ext cx="381837" cy="239822"/>
          </a:xfrm>
          <a:prstGeom prst="rightArrow">
            <a:avLst/>
          </a:prstGeom>
          <a:solidFill>
            <a:srgbClr val="FA95AF"/>
          </a:solidFill>
          <a:ln>
            <a:solidFill>
              <a:srgbClr val="FA95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7258406" y="4966709"/>
            <a:ext cx="323557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>
                <a:solidFill>
                  <a:srgbClr val="E0D6DE"/>
                </a:solidFill>
                <a:latin typeface="Fira Sans" panose="020B0604020202020204" charset="0"/>
                <a:ea typeface="Anton" pitchFamily="34" charset="-122"/>
                <a:cs typeface="Anton" pitchFamily="34" charset="-120"/>
              </a:rPr>
              <a:t>Сбор</a:t>
            </a:r>
            <a:r>
              <a:rPr lang="en-US" sz="1350" dirty="0">
                <a:solidFill>
                  <a:srgbClr val="E0D6DE"/>
                </a:solidFill>
                <a:latin typeface="Fira Sans" panose="020B0604020202020204" charset="0"/>
                <a:ea typeface="Anton" pitchFamily="34" charset="-122"/>
                <a:cs typeface="Anton" pitchFamily="34" charset="-120"/>
              </a:rPr>
              <a:t> первых отзывов</a:t>
            </a:r>
            <a:endParaRPr lang="en-US" sz="1350" dirty="0">
              <a:latin typeface="Fira Sans" panose="020B0604020202020204" charset="0"/>
            </a:endParaRPr>
          </a:p>
          <a:p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7253915" y="5264945"/>
            <a:ext cx="3333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Внедрить напоминания «Оцените игру» после 2–3 игровых сессий или запускать небольшие акции для стимулирования первых 100 отзывов.</a:t>
            </a:r>
            <a:endParaRPr lang="en-US" sz="1350" dirty="0"/>
          </a:p>
          <a:p>
            <a:endParaRPr lang="ru-RU" dirty="0"/>
          </a:p>
        </p:txBody>
      </p:sp>
      <p:sp>
        <p:nvSpPr>
          <p:cNvPr id="42" name="Стрелка вправо 41"/>
          <p:cNvSpPr/>
          <p:nvPr/>
        </p:nvSpPr>
        <p:spPr>
          <a:xfrm>
            <a:off x="6876569" y="6345363"/>
            <a:ext cx="381837" cy="239822"/>
          </a:xfrm>
          <a:prstGeom prst="rightArrow">
            <a:avLst/>
          </a:prstGeom>
          <a:solidFill>
            <a:srgbClr val="FA95AF"/>
          </a:solidFill>
          <a:ln>
            <a:solidFill>
              <a:srgbClr val="FA95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Стрелка вправо 42"/>
          <p:cNvSpPr/>
          <p:nvPr/>
        </p:nvSpPr>
        <p:spPr>
          <a:xfrm>
            <a:off x="10829500" y="4960913"/>
            <a:ext cx="381837" cy="239822"/>
          </a:xfrm>
          <a:prstGeom prst="rightArrow">
            <a:avLst/>
          </a:prstGeom>
          <a:solidFill>
            <a:srgbClr val="FA95AF"/>
          </a:solidFill>
          <a:ln>
            <a:solidFill>
              <a:srgbClr val="FA95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Стрелка вправо 43"/>
          <p:cNvSpPr/>
          <p:nvPr/>
        </p:nvSpPr>
        <p:spPr>
          <a:xfrm>
            <a:off x="10829500" y="6349217"/>
            <a:ext cx="381837" cy="239822"/>
          </a:xfrm>
          <a:prstGeom prst="rightArrow">
            <a:avLst/>
          </a:prstGeom>
          <a:solidFill>
            <a:srgbClr val="FA95AF"/>
          </a:solidFill>
          <a:ln>
            <a:solidFill>
              <a:srgbClr val="FA95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7261121" y="6349217"/>
            <a:ext cx="3235570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dirty="0" err="1">
                <a:solidFill>
                  <a:srgbClr val="E0D6DE"/>
                </a:solidFill>
                <a:latin typeface="Fira Sans"/>
              </a:rPr>
              <a:t>Скрывать</a:t>
            </a:r>
            <a:r>
              <a:rPr lang="en-US" sz="1350" dirty="0">
                <a:solidFill>
                  <a:srgbClr val="E0D6DE"/>
                </a:solidFill>
                <a:latin typeface="Fira Sans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</a:rPr>
              <a:t>среднее</a:t>
            </a:r>
            <a:endParaRPr lang="en-US" sz="1350" dirty="0" err="1">
              <a:solidFill>
                <a:srgbClr val="E0D6DE"/>
              </a:solidFill>
              <a:latin typeface="Fira Sans" panose="020B0604020202020204" charset="0"/>
            </a:endParaRPr>
          </a:p>
          <a:p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1211337" y="4955375"/>
            <a:ext cx="3235570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dirty="0" err="1">
                <a:solidFill>
                  <a:srgbClr val="E0D6DE"/>
                </a:solidFill>
                <a:latin typeface="Fira Sans"/>
              </a:rPr>
              <a:t>Следить</a:t>
            </a:r>
            <a:r>
              <a:rPr lang="en-US" sz="1350" dirty="0">
                <a:solidFill>
                  <a:srgbClr val="E0D6DE"/>
                </a:solidFill>
                <a:latin typeface="Fira Sans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</a:rPr>
              <a:t>за</a:t>
            </a:r>
            <a:r>
              <a:rPr lang="en-US" sz="1350" dirty="0">
                <a:solidFill>
                  <a:srgbClr val="E0D6DE"/>
                </a:solidFill>
                <a:latin typeface="Fira Sans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</a:rPr>
              <a:t>ростом</a:t>
            </a:r>
            <a:endParaRPr lang="en-US" sz="1350" dirty="0" err="1">
              <a:solidFill>
                <a:srgbClr val="E0D6DE"/>
              </a:solidFill>
              <a:latin typeface="Fira Sans" panose="020B0604020202020204" charset="0"/>
            </a:endParaRPr>
          </a:p>
          <a:p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1211337" y="6345363"/>
            <a:ext cx="3235570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dirty="0" err="1">
                <a:solidFill>
                  <a:srgbClr val="E0D6DE"/>
                </a:solidFill>
                <a:latin typeface="Fira Sans"/>
              </a:rPr>
              <a:t>Опираться</a:t>
            </a:r>
            <a:r>
              <a:rPr lang="en-US" sz="1350" dirty="0">
                <a:solidFill>
                  <a:srgbClr val="E0D6DE"/>
                </a:solidFill>
                <a:latin typeface="Fira Sans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</a:rPr>
              <a:t>на</a:t>
            </a:r>
            <a:r>
              <a:rPr lang="en-US" sz="1350" dirty="0">
                <a:solidFill>
                  <a:srgbClr val="E0D6DE"/>
                </a:solidFill>
                <a:latin typeface="Fira Sans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</a:rPr>
              <a:t>сигналы</a:t>
            </a:r>
          </a:p>
          <a:p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7253915" y="6700212"/>
            <a:ext cx="3333772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показывать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среднюю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оценку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пока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отзывов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мало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(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например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меньше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20).</a:t>
            </a:r>
            <a:endParaRPr lang="en-US" sz="1350" dirty="0">
              <a:latin typeface="Fira Sans"/>
              <a:ea typeface="Calibri"/>
              <a:cs typeface="Calibri"/>
            </a:endParaRPr>
          </a:p>
          <a:p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11211337" y="5263007"/>
            <a:ext cx="3333772" cy="9925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В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рекомендациях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смотреть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только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«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топ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»,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но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и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рост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за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неделю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—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это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важнее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для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новой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игры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.</a:t>
            </a:r>
            <a:endParaRPr lang="ru-RU">
              <a:latin typeface="Fira Sans"/>
              <a:ea typeface="+mn-lt"/>
              <a:cs typeface="+mn-lt"/>
            </a:endParaRPr>
          </a:p>
          <a:p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1196144" y="6700212"/>
            <a:ext cx="3333772" cy="14080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В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маркетинге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использовать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пользовательские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сигналы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: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вишлисты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,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отзывы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,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время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игры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.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Metacritic —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как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бонус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,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не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как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на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основу</a:t>
            </a:r>
            <a:r>
              <a:rPr lang="en-US" sz="1350" dirty="0">
                <a:solidFill>
                  <a:srgbClr val="E0D6DE"/>
                </a:solidFill>
                <a:latin typeface="Fira Sans"/>
                <a:ea typeface="+mn-lt"/>
                <a:cs typeface="+mn-lt"/>
              </a:rPr>
              <a:t>.</a:t>
            </a:r>
            <a:endParaRPr lang="ru-RU" dirty="0">
              <a:latin typeface="Fira Sans"/>
              <a:ea typeface="+mn-lt"/>
              <a:cs typeface="+mn-l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32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7"/>
          <p:cNvSpPr/>
          <p:nvPr/>
        </p:nvSpPr>
        <p:spPr>
          <a:xfrm>
            <a:off x="11676832" y="4947953"/>
            <a:ext cx="2649991" cy="557576"/>
          </a:xfrm>
          <a:prstGeom prst="roundRect">
            <a:avLst>
              <a:gd name="adj" fmla="val 480041"/>
            </a:avLst>
          </a:prstGeom>
          <a:solidFill>
            <a:srgbClr val="3E3E3E"/>
          </a:solidFill>
          <a:ln/>
        </p:spPr>
      </p:sp>
      <p:sp>
        <p:nvSpPr>
          <p:cNvPr id="33" name="Shape 7"/>
          <p:cNvSpPr/>
          <p:nvPr/>
        </p:nvSpPr>
        <p:spPr>
          <a:xfrm>
            <a:off x="8713164" y="4952178"/>
            <a:ext cx="2649991" cy="557576"/>
          </a:xfrm>
          <a:prstGeom prst="roundRect">
            <a:avLst>
              <a:gd name="adj" fmla="val 480041"/>
            </a:avLst>
          </a:prstGeom>
          <a:solidFill>
            <a:srgbClr val="3E3E3E"/>
          </a:solidFill>
          <a:ln/>
        </p:spPr>
      </p:sp>
      <p:sp>
        <p:nvSpPr>
          <p:cNvPr id="30" name="Shape 7"/>
          <p:cNvSpPr/>
          <p:nvPr/>
        </p:nvSpPr>
        <p:spPr>
          <a:xfrm>
            <a:off x="5790973" y="4952178"/>
            <a:ext cx="2649991" cy="557576"/>
          </a:xfrm>
          <a:prstGeom prst="roundRect">
            <a:avLst>
              <a:gd name="adj" fmla="val 480041"/>
            </a:avLst>
          </a:prstGeom>
          <a:solidFill>
            <a:srgbClr val="3E3E3E"/>
          </a:solidFill>
          <a:ln/>
        </p:spPr>
      </p:sp>
      <p:sp>
        <p:nvSpPr>
          <p:cNvPr id="21" name="Text 0"/>
          <p:cNvSpPr/>
          <p:nvPr/>
        </p:nvSpPr>
        <p:spPr>
          <a:xfrm>
            <a:off x="660440" y="518993"/>
            <a:ext cx="9377720" cy="471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Анализ ценовой политики и ее влияние на отзывы</a:t>
            </a:r>
            <a:endParaRPr lang="en-US" sz="295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58" y="1103167"/>
            <a:ext cx="5102919" cy="281007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75" y="4198374"/>
            <a:ext cx="5102002" cy="3752221"/>
          </a:xfrm>
          <a:prstGeom prst="rect">
            <a:avLst/>
          </a:prstGeom>
        </p:spPr>
      </p:pic>
      <p:sp>
        <p:nvSpPr>
          <p:cNvPr id="24" name="Text 1"/>
          <p:cNvSpPr/>
          <p:nvPr/>
        </p:nvSpPr>
        <p:spPr>
          <a:xfrm>
            <a:off x="5989523" y="1199536"/>
            <a:ext cx="8424567" cy="643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Наш анализ показывает, что между ценой игры и количеством отзывов практически </a:t>
            </a:r>
            <a:r>
              <a:rPr lang="en-US" sz="14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нет явной связи</a:t>
            </a: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Большая часть игр, как и отзывов, сосредоточена в низком и среднем ценовом диапазоне. Выбросы в виде аномально высоких цен (30k–75k$) предположительно являются ошибками данных или бандлами и искажают общую картину.</a:t>
            </a:r>
            <a:endParaRPr lang="en-US" sz="1450" dirty="0"/>
          </a:p>
        </p:txBody>
      </p:sp>
      <p:sp>
        <p:nvSpPr>
          <p:cNvPr id="25" name="Text 2"/>
          <p:cNvSpPr/>
          <p:nvPr/>
        </p:nvSpPr>
        <p:spPr>
          <a:xfrm>
            <a:off x="5989523" y="2655308"/>
            <a:ext cx="2911316" cy="35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Выводы для бизнеса:</a:t>
            </a:r>
            <a:endParaRPr lang="en-US" sz="2200" dirty="0"/>
          </a:p>
        </p:txBody>
      </p:sp>
      <p:sp>
        <p:nvSpPr>
          <p:cNvPr id="26" name="Text 3"/>
          <p:cNvSpPr/>
          <p:nvPr/>
        </p:nvSpPr>
        <p:spPr>
          <a:xfrm>
            <a:off x="5989523" y="3096115"/>
            <a:ext cx="1004688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Популярность и отзывы определяются не ценой, а </a:t>
            </a:r>
            <a:r>
              <a:rPr lang="en-US" sz="1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видимостью и качеством</a:t>
            </a: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игры.</a:t>
            </a:r>
            <a:endParaRPr lang="en-US" sz="1450" dirty="0"/>
          </a:p>
        </p:txBody>
      </p:sp>
      <p:sp>
        <p:nvSpPr>
          <p:cNvPr id="27" name="Text 4"/>
          <p:cNvSpPr/>
          <p:nvPr/>
        </p:nvSpPr>
        <p:spPr>
          <a:xfrm>
            <a:off x="5989523" y="3407227"/>
            <a:ext cx="7465220" cy="30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Снижение цены </a:t>
            </a:r>
            <a:r>
              <a:rPr lang="en-US" sz="14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 гарантирует</a:t>
            </a: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45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увеличения</a:t>
            </a: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отзывов</a:t>
            </a:r>
            <a:endParaRPr lang="ru-RU" sz="145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989523" y="3762267"/>
            <a:ext cx="13309521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Для быстрого набора первых оценок эффективны </a:t>
            </a:r>
            <a:r>
              <a:rPr lang="en-US" sz="14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скидки и "бесплатные выходные"</a:t>
            </a: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50" dirty="0"/>
          </a:p>
        </p:txBody>
      </p:sp>
      <p:sp>
        <p:nvSpPr>
          <p:cNvPr id="29" name="Text 6"/>
          <p:cNvSpPr/>
          <p:nvPr/>
        </p:nvSpPr>
        <p:spPr>
          <a:xfrm>
            <a:off x="5989523" y="4363836"/>
            <a:ext cx="7012305" cy="35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 по улучшению данных и стратегии:</a:t>
            </a:r>
            <a:endParaRPr lang="en-US" sz="2200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6922785" y="5052868"/>
            <a:ext cx="261610" cy="3744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9922798" y="5039510"/>
            <a:ext cx="261610" cy="3744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2871704" y="5026042"/>
            <a:ext cx="212514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dirty="0"/>
          </a:p>
        </p:txBody>
      </p:sp>
      <p:sp>
        <p:nvSpPr>
          <p:cNvPr id="39" name="Text 9"/>
          <p:cNvSpPr/>
          <p:nvPr/>
        </p:nvSpPr>
        <p:spPr>
          <a:xfrm>
            <a:off x="5790973" y="5656877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Очистка данных</a:t>
            </a:r>
            <a:endParaRPr lang="en-US" sz="1850" dirty="0"/>
          </a:p>
        </p:txBody>
      </p:sp>
      <p:sp>
        <p:nvSpPr>
          <p:cNvPr id="40" name="Text 10"/>
          <p:cNvSpPr/>
          <p:nvPr/>
        </p:nvSpPr>
        <p:spPr>
          <a:xfrm>
            <a:off x="5789235" y="5989910"/>
            <a:ext cx="2651729" cy="12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Удалить или скорректировать нереалистичные цены (например, выше 99-го перцентиля или $150). </a:t>
            </a:r>
            <a:endParaRPr lang="en-US" sz="1450" dirty="0"/>
          </a:p>
        </p:txBody>
      </p:sp>
      <p:sp>
        <p:nvSpPr>
          <p:cNvPr id="41" name="Text 13"/>
          <p:cNvSpPr/>
          <p:nvPr/>
        </p:nvSpPr>
        <p:spPr>
          <a:xfrm>
            <a:off x="8855974" y="5654754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Детальный анализ</a:t>
            </a:r>
            <a:endParaRPr lang="en-US" sz="1850" dirty="0"/>
          </a:p>
        </p:txBody>
      </p:sp>
      <p:sp>
        <p:nvSpPr>
          <p:cNvPr id="42" name="Text 14"/>
          <p:cNvSpPr/>
          <p:nvPr/>
        </p:nvSpPr>
        <p:spPr>
          <a:xfrm>
            <a:off x="8900839" y="6040900"/>
            <a:ext cx="2774671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Повторно рассчитать корреляцию и построить графики после очистки данных, а также провести анализ по жанрам.</a:t>
            </a:r>
            <a:endParaRPr lang="en-US" sz="1450" dirty="0"/>
          </a:p>
        </p:txBody>
      </p:sp>
      <p:sp>
        <p:nvSpPr>
          <p:cNvPr id="43" name="Text 17"/>
          <p:cNvSpPr/>
          <p:nvPr/>
        </p:nvSpPr>
        <p:spPr>
          <a:xfrm>
            <a:off x="11798409" y="5654754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Стратегия витрины</a:t>
            </a:r>
            <a:endParaRPr lang="en-US" sz="1850" dirty="0"/>
          </a:p>
        </p:txBody>
      </p:sp>
      <p:sp>
        <p:nvSpPr>
          <p:cNvPr id="44" name="Text 18"/>
          <p:cNvSpPr/>
          <p:nvPr/>
        </p:nvSpPr>
        <p:spPr>
          <a:xfrm>
            <a:off x="11798409" y="6074409"/>
            <a:ext cx="2499917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Сосредоточиться на росте отзывов и качестве игры, а не на ее цене.</a:t>
            </a:r>
            <a:endParaRPr lang="en-US" sz="145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ACAB90-C56A-D3A3-468A-C60E283C3D12}"/>
              </a:ext>
            </a:extLst>
          </p:cNvPr>
          <p:cNvSpPr/>
          <p:nvPr/>
        </p:nvSpPr>
        <p:spPr>
          <a:xfrm>
            <a:off x="12479890" y="7791136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2479890" y="7791136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91515" y="940237"/>
            <a:ext cx="12216170" cy="49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Распределение релизов по жанрам и рыночная насыщенность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1514" y="1604119"/>
            <a:ext cx="13247370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Наибольшее количество релизов </a:t>
            </a:r>
            <a:r>
              <a:rPr lang="en-US" sz="155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наблюдается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в жанрах </a:t>
            </a:r>
            <a:r>
              <a:rPr lang="en-US" sz="15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Indie, Action и Adventure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что указывает на перенасыщенность этих сегментов рынка. Меньше всего релизов приходится на нишевые жанры, такие как </a:t>
            </a:r>
            <a:r>
              <a:rPr lang="en-US" sz="15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Family, Sports, Racing, MMO и Arcade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07739" y="2432655"/>
            <a:ext cx="29635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Что это значит: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07739" y="2872824"/>
            <a:ext cx="2861371" cy="246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 перегруженных жанрах </a:t>
            </a:r>
            <a:r>
              <a:rPr lang="en-US" sz="15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сложнее пробиться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требуется агрессивный маркетинг и уникальные особенности игры.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7739" y="3232524"/>
            <a:ext cx="6722388" cy="62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 нишевых жанрах конкуренция ниже, но потенциальный спрос может быть меньше, что требует дополнительного анализа метрик интереса.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1515" y="4177706"/>
            <a:ext cx="1951819" cy="41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Стоит помнить, что </a:t>
            </a:r>
            <a:r>
              <a:rPr lang="en-US" sz="15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"Indie"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часто является тегом, а не жанром, </a:t>
            </a:r>
            <a:endParaRPr lang="ru-RU" sz="155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ru-RU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      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 игры могут принадлежать к нескольким жанрам одновременно.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7739" y="4906216"/>
            <a:ext cx="29635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Рекомендации: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96748" y="5385760"/>
            <a:ext cx="5792542" cy="1172724"/>
          </a:xfrm>
          <a:prstGeom prst="roundRect">
            <a:avLst>
              <a:gd name="adj" fmla="val 197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1900" y="5511638"/>
            <a:ext cx="24697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Витрина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1900" y="5812866"/>
            <a:ext cx="5174268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Создавать </a:t>
            </a: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отдельные подборки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для нишевых жанров для повышения их видимости.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7738" y="6667625"/>
            <a:ext cx="5781551" cy="1267007"/>
          </a:xfrm>
          <a:prstGeom prst="roundRect">
            <a:avLst>
              <a:gd name="adj" fmla="val 197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1900" y="6818046"/>
            <a:ext cx="24697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Запуск игры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1900" y="7195126"/>
            <a:ext cx="5439739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Сопоставлять выбранный жанр с уровнем спроса,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анализируя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средний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рейтинг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количество отзывов и время игры по жанрам.</a:t>
            </a:r>
            <a:endParaRPr lang="en-US" sz="14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534" y="4028824"/>
            <a:ext cx="7177549" cy="3886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978" y="457200"/>
            <a:ext cx="6272927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Пользовательский интерес по жанрам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1978" y="1205389"/>
            <a:ext cx="13466445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Лидерами по пользовательскому интересу, измеряемому средним числом оценок, являются </a:t>
            </a:r>
            <a:r>
              <a:rPr lang="en-US" sz="13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Shooter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за которым следуют </a:t>
            </a:r>
            <a:r>
              <a:rPr lang="en-US" sz="13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MMO, Platformer и Action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Жанры </a:t>
            </a:r>
            <a:r>
              <a:rPr lang="en-US" sz="13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Simulation, Sports, Fighting и Arcade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находятся ниже среднего уровня интереса.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1978" y="1986915"/>
            <a:ext cx="300013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Значение для стратегии: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81978" y="2547938"/>
            <a:ext cx="1346644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 жанрах Shooter и MMO высокий спрос, но и </a:t>
            </a:r>
            <a:r>
              <a:rPr lang="en-US" sz="13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высокая конкуренция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1978" y="2872145"/>
            <a:ext cx="1346644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Нишевые жанры требуют точечного подхода: работа с сообществами, обзоры, специальные акции.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1979" y="3196352"/>
            <a:ext cx="841453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Платформеры и Action-игры отлично подходят для промоакций и бандлов, так как привлекают широкую аудиторию.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1978" y="3711773"/>
            <a:ext cx="249424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Рекомендации: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81978" y="4272796"/>
            <a:ext cx="3262435" cy="1843445"/>
          </a:xfrm>
          <a:prstGeom prst="roundRect">
            <a:avLst>
              <a:gd name="adj" fmla="val 1157"/>
            </a:avLst>
          </a:prstGeom>
          <a:solidFill>
            <a:srgbClr val="3E3E3E"/>
          </a:solidFill>
          <a:ln/>
        </p:spPr>
      </p:sp>
      <p:sp>
        <p:nvSpPr>
          <p:cNvPr id="10" name="Shape 8"/>
          <p:cNvSpPr/>
          <p:nvPr/>
        </p:nvSpPr>
        <p:spPr>
          <a:xfrm>
            <a:off x="748189" y="4439007"/>
            <a:ext cx="498753" cy="498753"/>
          </a:xfrm>
          <a:prstGeom prst="roundRect">
            <a:avLst>
              <a:gd name="adj" fmla="val 18331891"/>
            </a:avLst>
          </a:prstGeom>
          <a:solidFill>
            <a:srgbClr val="FA95AE"/>
          </a:solidFill>
          <a:ln/>
        </p:spPr>
      </p:sp>
      <p:sp>
        <p:nvSpPr>
          <p:cNvPr id="12" name="Text 9"/>
          <p:cNvSpPr/>
          <p:nvPr/>
        </p:nvSpPr>
        <p:spPr>
          <a:xfrm>
            <a:off x="1318460" y="4512886"/>
            <a:ext cx="2078474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 err="1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Быстрые</a:t>
            </a:r>
            <a:r>
              <a:rPr lang="en-US" sz="16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1600" dirty="0" err="1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запуски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8189" y="5012770"/>
            <a:ext cx="3096224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Делать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акцент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на Shooter/MMO для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краткосрочных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кампаний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ивентов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52765" y="4278639"/>
            <a:ext cx="3262435" cy="1837602"/>
          </a:xfrm>
          <a:prstGeom prst="roundRect">
            <a:avLst>
              <a:gd name="adj" fmla="val 1157"/>
            </a:avLst>
          </a:prstGeom>
          <a:solidFill>
            <a:srgbClr val="3E3E3E"/>
          </a:solidFill>
          <a:ln/>
        </p:spPr>
      </p:sp>
      <p:sp>
        <p:nvSpPr>
          <p:cNvPr id="15" name="Shape 12"/>
          <p:cNvSpPr/>
          <p:nvPr/>
        </p:nvSpPr>
        <p:spPr>
          <a:xfrm>
            <a:off x="4268092" y="4395930"/>
            <a:ext cx="498753" cy="498753"/>
          </a:xfrm>
          <a:prstGeom prst="roundRect">
            <a:avLst>
              <a:gd name="adj" fmla="val 18331891"/>
            </a:avLst>
          </a:prstGeom>
          <a:solidFill>
            <a:srgbClr val="FA95AE"/>
          </a:solidFill>
          <a:ln/>
        </p:spPr>
      </p:sp>
      <p:sp>
        <p:nvSpPr>
          <p:cNvPr id="17" name="Text 13"/>
          <p:cNvSpPr/>
          <p:nvPr/>
        </p:nvSpPr>
        <p:spPr>
          <a:xfrm>
            <a:off x="4870366" y="4515409"/>
            <a:ext cx="2078474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 err="1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Нишевые</a:t>
            </a:r>
            <a:r>
              <a:rPr lang="en-US" sz="16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</a:t>
            </a:r>
            <a:r>
              <a:rPr lang="en-US" sz="1600" dirty="0" err="1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стратегии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269773" y="4937760"/>
            <a:ext cx="3045427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Собирать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первые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отзывы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сотрудничать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с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микро-инфлюенсерами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предлагать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скидки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бесплатные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выходные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81978" y="6391513"/>
            <a:ext cx="2078474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Важно проверить: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81978" y="6738283"/>
            <a:ext cx="7677119" cy="300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Средние значения могут быть искажены </a:t>
            </a:r>
            <a:r>
              <a:rPr lang="en-US" sz="13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«суперхитами»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; </a:t>
            </a:r>
            <a:endParaRPr lang="ru-RU" sz="130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algn="l">
              <a:buSzPct val="100000"/>
            </a:pPr>
            <a:r>
              <a:rPr lang="ru-RU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       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необходимо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анализировать медиану по жанрам.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81979" y="7244477"/>
            <a:ext cx="728382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Учитывать разное количество игр в каждом жанре, </a:t>
            </a:r>
            <a:endParaRPr lang="ru-RU" sz="130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algn="l">
              <a:buSzPct val="100000"/>
            </a:pPr>
            <a:r>
              <a:rPr lang="ru-RU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        </a:t>
            </a:r>
            <a:r>
              <a:rPr lang="en-US" sz="13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долю</a:t>
            </a:r>
            <a:r>
              <a:rPr lang="en-US" sz="13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хитов и еженедельный рост.</a:t>
            </a:r>
            <a:endParaRPr lang="en-US" sz="1300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27" y="4263509"/>
            <a:ext cx="6741431" cy="3366548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12479890" y="7807832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342" y="689729"/>
            <a:ext cx="8374142" cy="45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Доминирование платформ на рынке видеоигр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42342" y="1515547"/>
            <a:ext cx="13345716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Steam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остается безусловным лидером по количеству представленных игр. За ним следует группа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GOG, PlayStation Store и Xbox Store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Nintendo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занимает меньшую долю, а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 Store/Google Play и Epic Games Store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представлены еще скромнее в текущем датасете.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itch.io и Xbox 360 Store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замыкают список.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2342" y="2378273"/>
            <a:ext cx="362676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Как это интерпретировать: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642342" y="2997637"/>
            <a:ext cx="1334571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Данные отражают </a:t>
            </a: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количество релизов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а не объем продаж или качество игр.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2223" y="3355538"/>
            <a:ext cx="1334571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Одна и та же игра может быть доступна на нескольких платформах одновременно.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2342" y="3924538"/>
            <a:ext cx="6393061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 для издателей и разработчиков: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426716" y="4543901"/>
            <a:ext cx="7989574" cy="2995970"/>
          </a:xfrm>
          <a:prstGeom prst="roundRect">
            <a:avLst>
              <a:gd name="adj" fmla="val 919"/>
            </a:avLst>
          </a:prstGeom>
          <a:solidFill>
            <a:srgbClr val="3E3E3E"/>
          </a:solidFill>
          <a:ln/>
        </p:spPr>
      </p:sp>
      <p:sp>
        <p:nvSpPr>
          <p:cNvPr id="9" name="Shape 7"/>
          <p:cNvSpPr/>
          <p:nvPr/>
        </p:nvSpPr>
        <p:spPr>
          <a:xfrm>
            <a:off x="421338" y="4535017"/>
            <a:ext cx="3874889" cy="1591428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590088" y="4737006"/>
            <a:ext cx="241696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Максимальный охват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0088" y="5023709"/>
            <a:ext cx="2479273" cy="88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Для достижения максимального охвата и сбора отзывов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первой платформой должен быть Steam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9604" y="4543901"/>
            <a:ext cx="3830541" cy="1938576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47678" y="4529137"/>
            <a:ext cx="22860" cy="1938576"/>
          </a:xfrm>
          <a:prstGeom prst="roundRect">
            <a:avLst>
              <a:gd name="adj" fmla="val 120440"/>
            </a:avLst>
          </a:prstGeom>
          <a:solidFill>
            <a:srgbClr val="575757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690" y="4741065"/>
            <a:ext cx="2294334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Консоли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96826" y="5126717"/>
            <a:ext cx="3274839" cy="117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Рассматривать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PlayStation/Xbox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при наличии бюджета на портирование и сертификацию, где меньше релизов, но выше средний чек.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84489" y="5255531"/>
            <a:ext cx="335095" cy="412773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2739" y="4566761"/>
            <a:ext cx="22860" cy="1938576"/>
          </a:xfrm>
          <a:prstGeom prst="roundRect">
            <a:avLst>
              <a:gd name="adj" fmla="val 120440"/>
            </a:avLst>
          </a:prstGeom>
          <a:solidFill>
            <a:srgbClr val="575757"/>
          </a:solidFill>
          <a:ln/>
        </p:spPr>
      </p:sp>
      <p:sp>
        <p:nvSpPr>
          <p:cNvPr id="20" name="Text 17"/>
          <p:cNvSpPr/>
          <p:nvPr/>
        </p:nvSpPr>
        <p:spPr>
          <a:xfrm>
            <a:off x="6879267" y="4816218"/>
            <a:ext cx="2294334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GOG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41571" y="5191972"/>
            <a:ext cx="1336085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Подходит для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ПК-инди и ретро-игр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(DRM-free).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95595" y="5279313"/>
            <a:ext cx="295333" cy="412773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2342" y="6482477"/>
            <a:ext cx="6672739" cy="1057394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25" name="Shape 21"/>
          <p:cNvSpPr/>
          <p:nvPr/>
        </p:nvSpPr>
        <p:spPr>
          <a:xfrm>
            <a:off x="642342" y="6482477"/>
            <a:ext cx="6672739" cy="22860"/>
          </a:xfrm>
          <a:prstGeom prst="roundRect">
            <a:avLst>
              <a:gd name="adj" fmla="val 120440"/>
            </a:avLst>
          </a:prstGeom>
          <a:solidFill>
            <a:srgbClr val="575757"/>
          </a:solidFill>
          <a:ln/>
        </p:spPr>
      </p:sp>
      <p:sp>
        <p:nvSpPr>
          <p:cNvPr id="26" name="Text 22"/>
          <p:cNvSpPr/>
          <p:nvPr/>
        </p:nvSpPr>
        <p:spPr>
          <a:xfrm>
            <a:off x="603435" y="6665633"/>
            <a:ext cx="2294334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Epic Games Store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59860" y="7042593"/>
            <a:ext cx="6030397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Имеет меньший каталог, но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фичеринг дает отличную видимость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315081" y="6482477"/>
            <a:ext cx="4513175" cy="1057394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29" name="Shape 25"/>
          <p:cNvSpPr/>
          <p:nvPr/>
        </p:nvSpPr>
        <p:spPr>
          <a:xfrm>
            <a:off x="6329527" y="6491361"/>
            <a:ext cx="22860" cy="1057394"/>
          </a:xfrm>
          <a:prstGeom prst="roundRect">
            <a:avLst>
              <a:gd name="adj" fmla="val 120440"/>
            </a:avLst>
          </a:prstGeom>
          <a:solidFill>
            <a:srgbClr val="575757"/>
          </a:solidFill>
          <a:ln/>
        </p:spPr>
      </p:sp>
      <p:sp>
        <p:nvSpPr>
          <p:cNvPr id="30" name="Shape 26"/>
          <p:cNvSpPr/>
          <p:nvPr/>
        </p:nvSpPr>
        <p:spPr>
          <a:xfrm>
            <a:off x="5166260" y="6482477"/>
            <a:ext cx="6672858" cy="22860"/>
          </a:xfrm>
          <a:prstGeom prst="roundRect">
            <a:avLst>
              <a:gd name="adj" fmla="val 120440"/>
            </a:avLst>
          </a:prstGeom>
          <a:solidFill>
            <a:srgbClr val="575757"/>
          </a:solidFill>
          <a:ln/>
        </p:spPr>
      </p:sp>
      <p:sp>
        <p:nvSpPr>
          <p:cNvPr id="31" name="Text 27"/>
          <p:cNvSpPr/>
          <p:nvPr/>
        </p:nvSpPr>
        <p:spPr>
          <a:xfrm>
            <a:off x="6680772" y="6665952"/>
            <a:ext cx="2294334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itch.io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6672739" y="7069752"/>
            <a:ext cx="603051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Удобен для </a:t>
            </a:r>
            <a:r>
              <a:rPr lang="en-US" sz="1400" b="1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альфа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</a:t>
            </a:r>
            <a:r>
              <a:rPr lang="en-US" sz="1400" b="1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бета-версий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сбора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раннего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4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фидбэка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111524" y="6757749"/>
            <a:ext cx="458867" cy="458867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670" y="2946733"/>
            <a:ext cx="6450084" cy="3558604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F071B88-D909-4310-A627-AC532A5F9395}"/>
              </a:ext>
            </a:extLst>
          </p:cNvPr>
          <p:cNvSpPr/>
          <p:nvPr/>
        </p:nvSpPr>
        <p:spPr>
          <a:xfrm>
            <a:off x="12479890" y="7791136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2479890" y="7807832"/>
            <a:ext cx="2050026" cy="366762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790219" y="621625"/>
            <a:ext cx="10477550" cy="56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Распределение игр по возрастным рейтингам ESRB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524747" y="1395055"/>
            <a:ext cx="13049964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Наибольшее количество игр приходится на категории </a:t>
            </a:r>
            <a:r>
              <a:rPr lang="en-US" sz="17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Teen (13+) и Mature (17+)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Рейтинги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Everyone (E) и Everyone 10+ (E10+)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представлены умеренно. Игры с рейтингом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Adults Only (AO)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почти отсутствуют, а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Rating Pending (RP)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встречаются крайне редко.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24747" y="2726591"/>
            <a:ext cx="3386733" cy="42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Что это означает: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24747" y="3319284"/>
            <a:ext cx="13049964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Основная целевая аудитория игрового рынка — подростки и взрослые. При разработке маркетинговой стратегии и оформлении витрины следует фокусироваться на играх с рейтингами Teen/Mature, но при этом выделять отдельный блок </a:t>
            </a:r>
            <a:r>
              <a:rPr lang="en-US" sz="17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«Для всех»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чтобы охватить более молодую аудиторию.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4747" y="4713208"/>
            <a:ext cx="3386733" cy="42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24747" y="5286737"/>
            <a:ext cx="7321395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Ориентироваться на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Teen и Mature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для основной рекламной кампании.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4747" y="5725063"/>
            <a:ext cx="6741292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Создать </a:t>
            </a:r>
            <a:r>
              <a:rPr lang="en-US" sz="17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специализированные подборки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для игр с рейтингом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Everyone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13156" y="6186097"/>
            <a:ext cx="683154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Перед анализом данных необходимо удалить или скрыть игры с </a:t>
            </a: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ESRB = Unknown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чтобы получить более точную картину.</a:t>
            </a:r>
            <a:endParaRPr lang="en-US" sz="175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178" y="4483498"/>
            <a:ext cx="6096926" cy="34051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2479890" y="7649497"/>
            <a:ext cx="2050026" cy="52509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70084" y="526494"/>
            <a:ext cx="940010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Взаимосвязь времени игры и количества отзывов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0084" y="1388031"/>
            <a:ext cx="13290233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Основная масса игр имеет среднее время прохождения от 2 до 10 часов и до 1000 отзывов. </a:t>
            </a:r>
            <a:r>
              <a:rPr lang="en-US" sz="15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Четкой линейной зависимости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между временем, проведенным в игре, и количеством отзывов не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наблюдается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Хотя игры, в которые играют дольше, обычно собирают чуть больше отзывов, разброс данных огромен.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70084" y="2593896"/>
            <a:ext cx="2871907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Наблюдения: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70084" y="3240048"/>
            <a:ext cx="1329023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Присутствуют </a:t>
            </a:r>
            <a:r>
              <a:rPr lang="en-US" sz="15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«хиты-выбросы»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игры с 6–12 часами геймплея, получившие тысячи отзывов.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0084" y="3613190"/>
            <a:ext cx="1329023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Долгие игры (25–40 часов) </a:t>
            </a:r>
            <a:r>
              <a:rPr lang="en-US" sz="15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 всегда гарантируют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большое количество отзывов.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0084" y="4206597"/>
            <a:ext cx="2871907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Выводы: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70084" y="4565570"/>
            <a:ext cx="7038406" cy="532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Длительность игры не является прямым показателем популярности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endParaRPr lang="ru-RU" sz="1500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Ключевую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роль играют видимость и активность сообщества.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0084" y="5446157"/>
            <a:ext cx="2871907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Рекомендации: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70084" y="6092309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0084" y="6394847"/>
            <a:ext cx="6549390" cy="22860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2" name="Text 10"/>
          <p:cNvSpPr/>
          <p:nvPr/>
        </p:nvSpPr>
        <p:spPr>
          <a:xfrm>
            <a:off x="670084" y="6536293"/>
            <a:ext cx="2393156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850" dirty="0" err="1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Запрос</a:t>
            </a: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отзывов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70084" y="6950154"/>
            <a:ext cx="6549390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Для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коротких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игр —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запрашивать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оценку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после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полного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прохождения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Для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длинных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после 30–60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минут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или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второй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игровой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0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сессии</a:t>
            </a: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10926" y="6092309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04802"/>
            <a:ext cx="6867805" cy="38101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479890" y="7719340"/>
            <a:ext cx="2050026" cy="510259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569" y="1178153"/>
            <a:ext cx="11394522" cy="61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1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986" y="360640"/>
            <a:ext cx="618196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Ключевые факторы успеха в игровой индустрии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58986" y="885110"/>
            <a:ext cx="13712428" cy="41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 игровом рынке доминирует 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«эффект длинного хвоста»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лишь немногие игры становятся хитами, в то время как тысячи остаются незамеченными. Главными индикаторами успеха являются </a:t>
            </a: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пользовательские сигналы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отзывы (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ratings_count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), добавления в вишлист (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added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 и время, проведенное в игре (</a:t>
            </a:r>
            <a:r>
              <a:rPr lang="en-US" sz="14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playtime</a:t>
            </a: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). Эти метрики тесно взаимосвязаны.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8986" y="1690211"/>
            <a:ext cx="1967508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Основные выводы: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8986" y="2009894"/>
            <a:ext cx="13712428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Рейтинги критиков (</a:t>
            </a:r>
            <a:r>
              <a:rPr lang="en-US" sz="10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Metacritic</a:t>
            </a: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 и цена игры </a:t>
            </a:r>
            <a:r>
              <a:rPr lang="en-US" sz="10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слабо коррелируют</a:t>
            </a: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с интересом игроков</a:t>
            </a: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8986" y="2265640"/>
            <a:ext cx="13712428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Длительность игры </a:t>
            </a:r>
            <a:r>
              <a:rPr lang="en-US" sz="10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сама по себе не определяет</a:t>
            </a: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ее популярность</a:t>
            </a: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8986" y="2521387"/>
            <a:ext cx="13712428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 жанрам: </a:t>
            </a:r>
            <a:r>
              <a:rPr lang="en-US" sz="10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шутеры и MMO</a:t>
            </a: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привлекают больше внимания, в то время как </a:t>
            </a:r>
            <a:r>
              <a:rPr lang="en-US" sz="10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Indie/Action/Adventure</a:t>
            </a: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перегружены релизами</a:t>
            </a: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8986" y="2777133"/>
            <a:ext cx="13712428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 платформам: </a:t>
            </a:r>
            <a:r>
              <a:rPr lang="en-US" sz="10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Steam</a:t>
            </a: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основной канал для охвата, остальные — по специфике и бюджету</a:t>
            </a: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8986" y="3032879"/>
            <a:ext cx="13712428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Основная аудитория — игроки с рейтингами </a:t>
            </a:r>
            <a:r>
              <a:rPr lang="en-US" sz="10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Teen/Mature</a:t>
            </a:r>
            <a:r>
              <a:rPr lang="en-US" sz="10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038" y="3288625"/>
            <a:ext cx="10136015" cy="4744112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12479890" y="7669161"/>
            <a:ext cx="2050026" cy="505433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1F1F1F"/>
                </a:solidFill>
              </a:ln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1373</Words>
  <Application>Microsoft Office PowerPoint</Application>
  <PresentationFormat>Произвольный</PresentationFormat>
  <Paragraphs>142</Paragraphs>
  <Slides>11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Admin</dc:creator>
  <cp:lastModifiedBy>Admin</cp:lastModifiedBy>
  <cp:revision>37</cp:revision>
  <dcterms:created xsi:type="dcterms:W3CDTF">2025-11-12T12:01:22Z</dcterms:created>
  <dcterms:modified xsi:type="dcterms:W3CDTF">2025-11-12T14:05:52Z</dcterms:modified>
</cp:coreProperties>
</file>